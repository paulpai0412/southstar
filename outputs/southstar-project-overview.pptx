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90a6d150347cd" /><Relationship Type="http://schemas.openxmlformats.org/officeDocument/2006/relationships/extended-properties" Target="/docProps/app.xml" Id="R4fd2eba9346c42ef" /><Relationship Type="http://schemas.openxmlformats.org/officeDocument/2006/relationships/officeDocument" Target="/ppt/presentation.xml" Id="R7ca29ad75cd54f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c034a9d2304b26"/>
  </p:sldMasterIdLst>
  <p:notesMasterIdLst>
    <p:notesMasterId xmlns:r="http://schemas.openxmlformats.org/officeDocument/2006/relationships" r:id="R4045acba691c4b29"/>
  </p:notesMasterIdLst>
  <p:sldIdLst>
    <p:sldId xmlns:r="http://schemas.openxmlformats.org/officeDocument/2006/relationships" id="256" r:id="R5868b885d1544b2f"/>
    <p:sldId xmlns:r="http://schemas.openxmlformats.org/officeDocument/2006/relationships" id="257" r:id="Rdf5ef0d4140a462b"/>
    <p:sldId xmlns:r="http://schemas.openxmlformats.org/officeDocument/2006/relationships" id="258" r:id="R771e3dc6f4f143e4"/>
    <p:sldId xmlns:r="http://schemas.openxmlformats.org/officeDocument/2006/relationships" id="259" r:id="R40788bd0a16c45f0"/>
    <p:sldId xmlns:r="http://schemas.openxmlformats.org/officeDocument/2006/relationships" id="260" r:id="Rac7528517ceb4fa0"/>
    <p:sldId xmlns:r="http://schemas.openxmlformats.org/officeDocument/2006/relationships" id="261" r:id="R0d8bf8ed71bf4c81"/>
    <p:sldId xmlns:r="http://schemas.openxmlformats.org/officeDocument/2006/relationships" id="262" r:id="R116b09c4cd6f4d76"/>
    <p:sldId xmlns:r="http://schemas.openxmlformats.org/officeDocument/2006/relationships" id="263" r:id="R4cbbea080e2a4093"/>
    <p:sldId xmlns:r="http://schemas.openxmlformats.org/officeDocument/2006/relationships" id="264" r:id="R90d0b77211044c8e"/>
    <p:sldId xmlns:r="http://schemas.openxmlformats.org/officeDocument/2006/relationships" id="265" r:id="R38ed52d7e41b4bb1"/>
    <p:sldId xmlns:r="http://schemas.openxmlformats.org/officeDocument/2006/relationships" id="266" r:id="R129c7204e9a8416d"/>
    <p:sldId xmlns:r="http://schemas.openxmlformats.org/officeDocument/2006/relationships" id="267" r:id="R381cd2d2835b4d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af2724635d438e" /><Relationship Type="http://schemas.openxmlformats.org/officeDocument/2006/relationships/slideMaster" Target="/ppt/slideMasters/slideMaster1.xml" Id="R94c034a9d2304b26" /><Relationship Type="http://schemas.openxmlformats.org/officeDocument/2006/relationships/notesMaster" Target="/ppt/notesMasters/notesMaster1.xml" Id="R4045acba691c4b29" /><Relationship Type="http://schemas.openxmlformats.org/officeDocument/2006/relationships/presProps" Target="/ppt/presProps.xml" Id="R5f1312e6d9364750" /><Relationship Type="http://schemas.openxmlformats.org/officeDocument/2006/relationships/tableStyles" Target="/ppt/tableStyles.xml" Id="Rcf41c9c64ff345cd" /><Relationship Type="http://schemas.openxmlformats.org/officeDocument/2006/relationships/slide" Target="/ppt/slides/slide1.xml" Id="R5868b885d1544b2f" /><Relationship Type="http://schemas.openxmlformats.org/officeDocument/2006/relationships/slide" Target="/ppt/slides/slide2.xml" Id="Rdf5ef0d4140a462b" /><Relationship Type="http://schemas.openxmlformats.org/officeDocument/2006/relationships/slide" Target="/ppt/slides/slide3.xml" Id="R771e3dc6f4f143e4" /><Relationship Type="http://schemas.openxmlformats.org/officeDocument/2006/relationships/slide" Target="/ppt/slides/slide4.xml" Id="R40788bd0a16c45f0" /><Relationship Type="http://schemas.openxmlformats.org/officeDocument/2006/relationships/slide" Target="/ppt/slides/slide5.xml" Id="Rac7528517ceb4fa0" /><Relationship Type="http://schemas.openxmlformats.org/officeDocument/2006/relationships/slide" Target="/ppt/slides/slide6.xml" Id="R0d8bf8ed71bf4c81" /><Relationship Type="http://schemas.openxmlformats.org/officeDocument/2006/relationships/slide" Target="/ppt/slides/slide7.xml" Id="R116b09c4cd6f4d76" /><Relationship Type="http://schemas.openxmlformats.org/officeDocument/2006/relationships/slide" Target="/ppt/slides/slide8.xml" Id="R4cbbea080e2a4093" /><Relationship Type="http://schemas.openxmlformats.org/officeDocument/2006/relationships/slide" Target="/ppt/slides/slide9.xml" Id="R90d0b77211044c8e" /><Relationship Type="http://schemas.openxmlformats.org/officeDocument/2006/relationships/slide" Target="/ppt/slides/slide10.xml" Id="R38ed52d7e41b4bb1" /><Relationship Type="http://schemas.openxmlformats.org/officeDocument/2006/relationships/slide" Target="/ppt/slides/slide11.xml" Id="R129c7204e9a8416d" /><Relationship Type="http://schemas.openxmlformats.org/officeDocument/2006/relationships/slide" Target="/ppt/slides/slide12.xml" Id="R381cd2d2835b4d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ea9cf0126749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2477bcaa3c4c8e" /><Relationship Type="http://schemas.openxmlformats.org/officeDocument/2006/relationships/notesMaster" Target="/ppt/notesMasters/notesMaster1.xml" Id="R4659056c81334a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194a25454b4bf7" /><Relationship Type="http://schemas.openxmlformats.org/officeDocument/2006/relationships/notesMaster" Target="/ppt/notesMasters/notesMaster1.xml" Id="R45870e9d6cd140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e74f7745f84351" /><Relationship Type="http://schemas.openxmlformats.org/officeDocument/2006/relationships/notesMaster" Target="/ppt/notesMasters/notesMaster1.xml" Id="R3004803e076542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4e5f8888bd4d1f" /><Relationship Type="http://schemas.openxmlformats.org/officeDocument/2006/relationships/notesMaster" Target="/ppt/notesMasters/notesMaster1.xml" Id="R79056f5eafeb4d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9e306797a247d7" /><Relationship Type="http://schemas.openxmlformats.org/officeDocument/2006/relationships/notesMaster" Target="/ppt/notesMasters/notesMaster1.xml" Id="R527ffcc5b3944b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9a687535d24ae1" /><Relationship Type="http://schemas.openxmlformats.org/officeDocument/2006/relationships/notesMaster" Target="/ppt/notesMasters/notesMaster1.xml" Id="Rdf56f3d20d2845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ae1b1d64cf40c3" /><Relationship Type="http://schemas.openxmlformats.org/officeDocument/2006/relationships/notesMaster" Target="/ppt/notesMasters/notesMaster1.xml" Id="R88fad275149642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a5a41f2fe44f99" /><Relationship Type="http://schemas.openxmlformats.org/officeDocument/2006/relationships/notesMaster" Target="/ppt/notesMasters/notesMaster1.xml" Id="R035f1e5ff34441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1668bcfbda41f6" /><Relationship Type="http://schemas.openxmlformats.org/officeDocument/2006/relationships/notesMaster" Target="/ppt/notesMasters/notesMaster1.xml" Id="R1b377ee13d344b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f3ababf93e4865" /><Relationship Type="http://schemas.openxmlformats.org/officeDocument/2006/relationships/notesMaster" Target="/ppt/notesMasters/notesMaster1.xml" Id="Ra8726cbe959748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f72a1420304e34" /><Relationship Type="http://schemas.openxmlformats.org/officeDocument/2006/relationships/notesMaster" Target="/ppt/notesMasters/notesMaster1.xml" Id="R9cbd10faf4bc4b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db1c7a31a14c79" /><Relationship Type="http://schemas.openxmlformats.org/officeDocument/2006/relationships/notesMaster" Target="/ppt/notesMasters/notesMaster1.xml" Id="R64d2fdcad7f04e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ad768f0ae45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da699465e14c50" /><Relationship Type="http://schemas.openxmlformats.org/officeDocument/2006/relationships/slideLayout" Target="/ppt/slideLayouts/slideLayout1.xml" Id="R2367acd6ab0546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67acd6ab0546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c527053a342c4" /><Relationship Type="http://schemas.openxmlformats.org/officeDocument/2006/relationships/notesSlide" Target="/ppt/notesSlides/notesSlide1.xml" Id="Rcbc686ece47240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1596e33624e26" /><Relationship Type="http://schemas.openxmlformats.org/officeDocument/2006/relationships/notesSlide" Target="/ppt/notesSlides/notesSlide2.xml" Id="R7e4ea7ce78464f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5d01cfa334076" /><Relationship Type="http://schemas.openxmlformats.org/officeDocument/2006/relationships/notesSlide" Target="/ppt/notesSlides/notesSlide3.xml" Id="R5704921ded8f4b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61c2c5dd34c07" /><Relationship Type="http://schemas.openxmlformats.org/officeDocument/2006/relationships/notesSlide" Target="/ppt/notesSlides/notesSlide4.xml" Id="Ra02485f4c2714c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3b3b48dee4e70" /><Relationship Type="http://schemas.openxmlformats.org/officeDocument/2006/relationships/notesSlide" Target="/ppt/notesSlides/notesSlide5.xml" Id="R84858fd23cce49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f02bc8eee4048" /><Relationship Type="http://schemas.openxmlformats.org/officeDocument/2006/relationships/notesSlide" Target="/ppt/notesSlides/notesSlide6.xml" Id="Re73305c9a6c44d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f0d9162f44e7e" /><Relationship Type="http://schemas.openxmlformats.org/officeDocument/2006/relationships/notesSlide" Target="/ppt/notesSlides/notesSlide7.xml" Id="R6ad147c4311248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afc89609f4e26" /><Relationship Type="http://schemas.openxmlformats.org/officeDocument/2006/relationships/notesSlide" Target="/ppt/notesSlides/notesSlide8.xml" Id="Rdfc387056b0948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d82f2c7cf4b0a" /><Relationship Type="http://schemas.openxmlformats.org/officeDocument/2006/relationships/notesSlide" Target="/ppt/notesSlides/notesSlide9.xml" Id="R098e4e74867848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a2d402ce74554" /><Relationship Type="http://schemas.openxmlformats.org/officeDocument/2006/relationships/notesSlide" Target="/ppt/notesSlides/notesSlide10.xml" Id="R089537ae6b964a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9183151b44347" /><Relationship Type="http://schemas.openxmlformats.org/officeDocument/2006/relationships/notesSlide" Target="/ppt/notesSlides/notesSlide11.xml" Id="Rb8fe2a8376484a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3968537734d5b" /><Relationship Type="http://schemas.openxmlformats.org/officeDocument/2006/relationships/notesSlide" Target="/ppt/notesSlides/notesSlide12.xml" Id="R6eaec029950f4e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3EAEC8-E492-4BCC-A355-FAD40AFB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46B86-0680-4197-91A5-62E03D6F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SOUTHSTAR / ENGINEERING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D92C6-0086-44FE-BC3F-26EE3692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Southstar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E4BB7-1275-4330-A29F-04250E3E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把自然語言目標變成可追蹤的執行系統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4FAFE-BCEA-4335-94B2-F26542A0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A Postgres-backed runtime for long-running multi-agent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97F69-32B1-489E-8C84-F92121CF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238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GOAL → DAG →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3758B-932A-42F5-9509-84213F95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81915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F1F5F9"/>
                </a:solidFill>
              </a:defRPr>
            </a:pPr>
            <a:r>
              <a:rPr sz="11250" b="1">
                <a:solidFill>
                  <a:srgbClr val="F1F5F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BE697-2D6F-47FA-B1F8-88B2FE6F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One durable control plane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C0378-CA82-482F-94EC-034BAC45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58CE8-761B-4BD4-BB6D-2D146662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95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F6DA2-DD19-4D70-B594-0D23E36D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5300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Library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EA4D1-B992-4CDE-A99A-8CDD76B6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95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0CD8A-D811-4E2C-876E-B7C7C657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5300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DAG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15AD9-3F6A-4127-B985-E6299191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95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40FE1-13EF-447C-98DC-3EE09F79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5300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Tork / 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E1462-5B28-4C16-B22C-72A466E3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95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CFB44-7DE4-4D29-B6C6-9DB1EED7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DD08B-BF7F-470A-ADB4-3120F968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工程師導向專案介紹</a:t>
            </a:r>
          </a:p>
        </p:txBody>
      </p:sp>
    </p:spTree>
    <p:extLst>
      <p:ext uri="{BB962C8B-B14F-4D97-AF65-F5344CB8AC3E}">
        <p14:creationId xmlns:p14="http://schemas.microsoft.com/office/powerpoint/2010/main" val="21205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751BE4-D51B-459D-928E-674541B5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CD257-E9F3-41E1-9150-76629EA4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SOUTHSTAR / ENGINEERING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5DB1A-4390-4567-A4F0-92FFAD85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C273A-B5F0-4D23-AD84-BB1848B1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8BFB0-DE05-4616-BBF6-6679A1B8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Postgres-backed · workflow-driven · long-running multi-agent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EC0CC-548F-45F3-849C-DAA6F990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WHY SOUTHSTAR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6D9B0-0216-46AB-A44C-23AA1C44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多代理工作需要一條可恢復、可驗證的控制鏈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033A6-DE0C-4E0E-8B04-28125ECA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單次模型回覆可以回答問題，但長時間、多步驟工作需要持久狀態、依賴與證據。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A53DB-EB2C-492A-8332-889C5109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0963D-9665-42AA-9CC1-C9BC1CB5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67000"/>
            <a:ext cx="8191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D3CAE-289F-41C9-BC9F-CFF7659E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003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狀態容易消失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20FCB-A8AD-441A-A5FB-30EBB387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98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Prompt、session、task 與結果沒有共同的持久邊界。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8C828-41A7-4C1A-8D38-B1E9657C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368F5-30DA-48AE-A480-8E804518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8191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AFCF1-27BC-4038-BB1B-B7E3EDE9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338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依賴容易隱形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E9230-4A38-4A9E-B7E2-38F5DFE4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433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多代理任務的先後關係與輸入來源難以驗證。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A9300-FA2C-4555-9F0B-6B5E27EA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4D0F2-CB50-4117-A3F8-66B1CD27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33900"/>
            <a:ext cx="8191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4FDA5-4C23-4C35-9DDB-58CFCA32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67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成果難以驗收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FCCA5-64FD-4DBF-A1A8-3466D48B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767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成功不能只代表 job 結束，還需要 artifact 與 evaluator evidence。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0CF1F-1665-40CE-98D4-6911377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47950"/>
            <a:ext cx="1485900" cy="16192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Southstar 的問題定義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43B819-2995-400C-80AA-D29CABEA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29125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如何讓一個 Goal 從 prompt 走到可追蹤的 terminal artifact？</a:t>
            </a:r>
          </a:p>
        </p:txBody>
      </p:sp>
    </p:spTree>
    <p:extLst>
      <p:ext uri="{BB962C8B-B14F-4D97-AF65-F5344CB8AC3E}">
        <p14:creationId xmlns:p14="http://schemas.microsoft.com/office/powerpoint/2010/main" val="820499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B997BA-EA59-4255-9C69-936C5AAE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B8B19-5BD2-472E-8243-A884955C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SOUTHSTAR / ENGINEERING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74BDD-CA7E-4E1E-BD2D-7107C913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F7AEC-44DF-4D44-9619-47BE6DA2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85B84-FACB-4AE9-BDF0-1B3E0B7B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Postgres-backed · workflow-driven · long-running multi-agent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F1F2A-7403-4829-87F4-62A8B04F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SYSTEM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717D5-6E47-4E6D-86C9-7AB7D876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一個 Goal 會穿過七個可觀測階段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D2B0F-307A-4D3F-A227-5C84B2AB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所有階段都由 runtime API 串接，並將狀態寫入 Postgres。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F4364-F40E-4ED6-82B4-FE1A8214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1381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3C9A4-AFDA-44A0-888D-0D912264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Chat / CLI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77D7D-177A-4B04-A613-A31C7FD0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E2926-5CFE-40CA-AF28-CBC45A73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D6323-29B6-4008-825F-D2C82D8B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1381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E0C13-A8FA-45B8-9A83-99C61363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28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Goal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CEA20-E74E-4130-966F-B5C01964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813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91B2"/>
                </a:solidFill>
              </a:defRPr>
            </a:pPr>
            <a:r>
              <a:rPr sz="975" b="1">
                <a:solidFill>
                  <a:srgbClr val="0891B2"/>
                </a:solidFill>
              </a:rPr>
              <a:t>contract + reqs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B125B-F1EC-4340-BDC1-CF1C2C72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ECAC8-FF56-40A1-85DE-C8FB6C3B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1381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A9D9D-FD64-418C-A764-AB8634DD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Library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908A2-54AB-4344-89B8-C1FB5C30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813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94AA3-ACA7-48B5-8B39-9D201453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476BB-4A54-4F82-B783-FC446550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19400"/>
            <a:ext cx="1381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E2CFD-1019-4885-8B41-137011D7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28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27AF2-A63A-4228-A0C0-F459D728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813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manifest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3C645-F391-410E-AC9C-334A5BAB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8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8F3D2B-AB88-40F1-9DBB-F9135E82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19400"/>
            <a:ext cx="1381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09799A-C189-4072-8BE6-60FF2457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Runtime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AB59FB-34C7-40EC-A819-7839A0A4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scheduler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B0EC36-644A-4AEB-970C-9E77CA51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38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73E303-141E-45AF-90D0-23E354C3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19400"/>
            <a:ext cx="1381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2ADB98-D90F-4DB3-A1BB-49C631C7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28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Executor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33FAFC-D73B-4DA3-93C6-441A4FA3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813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Tork / 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95AC36-1D07-4BEC-91F1-6291BA6E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60D70B-D12E-4990-AD80-4C502204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19400"/>
            <a:ext cx="13811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0C7D89-89A8-40AF-A080-53D48A42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0289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A81696-D013-485B-9BE8-15A24B88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813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</a:defRPr>
            </a:pPr>
            <a:r>
              <a:rPr sz="975" b="1">
                <a:solidFill>
                  <a:srgbClr val="DC2626"/>
                </a:solidFill>
              </a:rPr>
              <a:t>artifact + eval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E8FE41-9D78-4CEB-8377-2A33F26C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7429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POSTGRES / DURABLE RUNTIME TRUTH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DC31E3-ABB0-4046-B14A-242DA99B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7687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history · resources · snapshots · sessions · artifacts · read models</a:t>
            </a:r>
          </a:p>
        </p:txBody>
      </p:sp>
    </p:spTree>
    <p:extLst>
      <p:ext uri="{BB962C8B-B14F-4D97-AF65-F5344CB8AC3E}">
        <p14:creationId xmlns:p14="http://schemas.microsoft.com/office/powerpoint/2010/main" val="1090643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DD1C4E-43FF-4E69-B12D-086B3CF2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040BE-4059-44D5-8A13-7F89807E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SOUTHSTAR / ENGINEERING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2BF53-7AD0-476C-8341-0240267E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DDAA3-EE9E-4BFA-A5B9-CAC8C138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2893B-8BA8-4A5B-86AD-5D315CBE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Postgres-backed · workflow-driven · long-running multi-agent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3C14F-E340-4C92-8A41-7789AC8B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DOMAIN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98E3B-8B01-4CA0-A482-4BA3D1A8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Requirement 與 Slice 先被凍結，DAG 才能執行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79ABA-A661-4702-974B-BD2C3AAD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Southstar 把語義規劃與執行控制拆開，讓每一層都有可驗證的邊界。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BA5C0-FE1E-449E-99D6-B07E713D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8BCC7-013C-4463-8280-7B403900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03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Goal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03E18-C73B-46D2-ABEE-4EB3F8AF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860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目標、範圍、假設、非目標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708D3-C4E2-478C-B92E-AC234603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DC95A-FB5C-437F-87E1-2E9688ED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90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3266E-BCD5-4744-A112-432D20CD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766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驗收條件與 artifact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5B805-5CC9-4C28-A8AF-36DB0C52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69246-6973-4C94-8708-14A4496F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81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Slices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94A10-F897-444C-A291-F284A637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67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可組合的工作單元與選擇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B19BE-4868-4EB3-8AB0-49F3DB2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37EB7-B106-4AE0-A868-F34B8E59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00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DAG Manifest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87943-9596-443F-A32E-4A65F296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860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task、依賴、profile、execution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49196-03FF-45C2-9437-21D13CBC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710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05B679-FAF8-4510-969D-49F56117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909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Workflow 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081A3-B409-4F23-8BD1-F3678079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766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狀態、attempt、approval、recovery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2E85AE-423D-4C8A-8D63-5B98BF50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BB6AF9-87AB-4FE8-A46F-F9E3A9D9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81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Artifacts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CEA01-F71D-4DFF-B829-78F9EAA9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67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可接受的輸出與 evaluator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E23F71-B511-4A75-811F-63631CDB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81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FD98E0-A3D8-48AB-BA01-A1F4563A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719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FF093D-585E-4AE0-AEE5-7400C7E4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62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D7F111-C89F-49D7-BB2B-C67711F1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語義層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53B36B-7188-41DA-991F-CDC917AF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執行層</a:t>
            </a:r>
          </a:p>
        </p:txBody>
      </p:sp>
    </p:spTree>
    <p:extLst>
      <p:ext uri="{BB962C8B-B14F-4D97-AF65-F5344CB8AC3E}">
        <p14:creationId xmlns:p14="http://schemas.microsoft.com/office/powerpoint/2010/main" val="807171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4F24E3-3D31-4AEB-B042-525CDACD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61B43-F65B-47D7-8A4D-F58C5724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SOUTHSTAR / ENGINEERING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5784C-57BC-4D30-96BF-0FECAB02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E4476-36C8-4503-8152-E60CB8BE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370FC-4FBA-488F-8239-7EAF52B6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Postgres-backed · workflow-driven · long-running multi-agent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46421-FCB1-472F-A854-8B803D76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DESIGN LIBRARY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F2AFB-7D42-426E-B45F-CC8B8EA4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Library Graph 是組合邊界，不是靜態素材庫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31938-F6F6-4D4E-B418-5E4CC897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Planner 只能從 approved graph primitives 選擇能力，避免模型自行發明 runtime binding。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A2A65-1C01-4771-BA0C-8294F926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36576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1E32C-2F7D-4544-82DF-1F7CC909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AE6FD"/>
                </a:solidFill>
              </a:defRPr>
            </a:pPr>
            <a:r>
              <a:rPr sz="1050" b="1">
                <a:solidFill>
                  <a:srgbClr val="BAE6FD"/>
                </a:solidFill>
              </a:rPr>
              <a:t>APPROVED GRAPH SNAPSHOT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38260-2444-4B45-8332-F561DD92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480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versioned composition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51578-AC77-42BA-BE2E-E0C8318E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1485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D5E37-1505-46F7-B11A-3F3DB99C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1485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91B2"/>
                </a:solidFill>
              </a:defRPr>
            </a:pPr>
            <a:r>
              <a:rPr sz="1275" b="1">
                <a:solidFill>
                  <a:srgbClr val="0891B2"/>
                </a:solidFill>
              </a:rPr>
              <a:t>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2B543-C50C-4C1B-8881-257B3D9A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1485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Tool / MCP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21823-D484-4AFF-B303-6241B3E6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1485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A34A"/>
                </a:solidFill>
              </a:defRPr>
            </a:pPr>
            <a:r>
              <a:rPr sz="1275" b="1">
                <a:solidFill>
                  <a:srgbClr val="16A34A"/>
                </a:solidFill>
              </a:rPr>
              <a:t>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D41E6-194F-403F-86D3-D75A75BC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91050"/>
            <a:ext cx="1485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Template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E10AE-8479-412B-8419-DCE1F787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→ approved refs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18BC3-F6CC-4BE7-95A9-55168237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approved refs 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F9C32-029E-4B14-A76A-1EDE0B44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86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→ immutable version refs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B6AF1-873A-4653-B94E-0F040A26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19750"/>
            <a:ext cx="533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coverage · compatibility · provenance</a:t>
            </a:r>
          </a:p>
        </p:txBody>
      </p:sp>
    </p:spTree>
    <p:extLst>
      <p:ext uri="{BB962C8B-B14F-4D97-AF65-F5344CB8AC3E}">
        <p14:creationId xmlns:p14="http://schemas.microsoft.com/office/powerpoint/2010/main" val="14788759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8AD149-A480-4F59-9D39-99912785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0D072-D040-4A21-9FCD-0853F1A0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SOUTHSTAR / ENGINEERING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7A2EA-7512-4C70-BE26-17CFBFA7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E8534-93C6-4A56-B23C-12BFC870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E5004-51CE-409A-9070-15E012FC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Postgres-backed · workflow-driven · long-running multi-agent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1659A-0895-4959-B27F-59391875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PLANNING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57BFF-0174-40AA-A151-E569BD1D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LLM 負責語義組合，Runtime 負責確定性驗證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9F15F-5CB8-49EF-B8FB-265D8316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這個分工讓模型保持彈性，同時讓 schema、state、permissions 與 persistence 可被測試。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C3AB6-64E3-4E02-9F2F-775F0C0E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9705C-73C3-4CD8-8723-E9D79E83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909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Analyze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65446-907E-4992-AD52-7E6423C4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95700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derive 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C15C5-FA71-40AD-807D-8B105E5C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257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2F256-A718-441F-96F5-B6870AE3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38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6192D-5E71-4907-8418-6FAD656B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3909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Resolve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DA8FA-4519-4A8E-82B8-2880D69B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695700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find graph candidates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698FD-8FA4-44BF-BA41-B6FAB62A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28950"/>
            <a:ext cx="1257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620D7-A375-4934-A610-4B58D72A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38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D92AC-21DB-4B79-9A3D-3A9C588A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909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Compose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D9AB5-EDF6-4E79-9EC0-02B8BE32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695700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LLM proposes slices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20242-580A-4F9A-9D57-A7CF1431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28950"/>
            <a:ext cx="1257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35A82-5CAF-4F0C-BBCA-FD59BE9D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38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FFBE6D-66A7-432D-815B-6E51CAF0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909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598C2-3E91-4588-B8D0-536038B1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95700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schema + capability gates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12F53F-35DD-4E0A-B3B2-584002B8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28950"/>
            <a:ext cx="1257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9488D5-08E0-43EC-AF7E-AD77A013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38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08880F-CE6C-4E59-B972-FA241331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909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Compile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911CFD-D5AF-4B49-9833-87287CC5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95700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canonical manifest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B3C84-7017-4CD7-9080-46D03359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LLM output is proposed 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81096A-A343-42B2-B157-41077EBD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57750"/>
            <a:ext cx="3028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A34A"/>
                </a:solidFill>
              </a:defRPr>
            </a:pPr>
            <a:r>
              <a:rPr sz="1275" b="1">
                <a:solidFill>
                  <a:srgbClr val="16A34A"/>
                </a:solidFill>
              </a:rPr>
              <a:t>Runtime output is persisted truth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F23B37-F197-42B2-B9E9-DAF1DCE9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Missing data blocks; it is not synthesized</a:t>
            </a:r>
          </a:p>
        </p:txBody>
      </p:sp>
    </p:spTree>
    <p:extLst>
      <p:ext uri="{BB962C8B-B14F-4D97-AF65-F5344CB8AC3E}">
        <p14:creationId xmlns:p14="http://schemas.microsoft.com/office/powerpoint/2010/main" val="847591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390001-BFF5-4241-A485-DC09EE05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9A21E-0CFE-4ADD-9CBA-513F5848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SOUTHSTAR / ENGINEERING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B6DA2-9C09-478D-B6B9-46DEAFBE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D5C83-BF27-47BF-ABA1-D70087B7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1B8A0-758A-416A-A583-C8B01237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Postgres-backed · workflow-driven · long-running multi-agent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62F80-A45B-4439-9384-E5ED3D80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RUNTIME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8D032-3D00-4FA1-A0DB-A928A636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DAG 由 Scheduler 轉成 Tork/Pi 任務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A6AF0-9659-4AB3-A7A0-B84DE917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每個 task 都有 dependency、context、session checkpoint、binding 與 execution identity。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AC0DB-FB14-478C-BC32-051F8F83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809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FF012-CE57-482F-9011-327E0824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Scheduler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D0721-5B38-4A88-BF82-08B05F6C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claim runnable tasks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25A26-153D-4B02-95A8-DEE3F347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575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77BDD-3FEE-4B60-AA41-1B258B61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1809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69A9C-9D9A-4721-B08B-073E5D02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146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Hand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880A5-572A-4D85-B365-E2C92615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575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provision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60F61-C7D3-4731-83B0-6D14A75F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575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3D6E5-D06D-4923-BEAC-304EBB62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24150"/>
            <a:ext cx="1809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7AA17-B4DA-4A7A-AFFC-DE67EDB6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146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Tork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40D58-9F96-4EC6-A3FD-9C8B2640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575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submit job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1CC2B-A2C3-45A2-9CBE-8B33AC04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575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12FF1-AC88-4D19-847D-448BCEC4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1809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AE259-35C5-4C71-8266-5DEF1C4F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Pi runner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55092-9388-4114-B10B-F8E7915A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run task envelope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F0052-0C09-4549-947C-2F428300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0575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6656C-175E-4C31-8090-27C74B11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809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A99C5D-B62D-4346-9C87-0CE6FD88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146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Callback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43B739-F12C-45D7-8BE4-EC64B1D2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575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persist + reconcile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D4F88D-46E0-48FE-886E-3314756D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Brain decides intent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87EEE-371A-4813-B558-CBBADF22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72000"/>
            <a:ext cx="266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Hand provisions execution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812E64-8E00-4983-A3CD-B62FF32D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0"/>
            <a:ext cx="228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A34A"/>
                </a:solidFill>
              </a:defRPr>
            </a:pPr>
            <a:r>
              <a:rPr sz="1425" b="1">
                <a:solidFill>
                  <a:srgbClr val="16A34A"/>
                </a:solidFill>
              </a:rPr>
              <a:t>Callback closes the loop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0094E2-B2CB-4EEA-BA6C-D3FFE313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separation is load-bearing for recovery and provider replacement.</a:t>
            </a:r>
          </a:p>
        </p:txBody>
      </p:sp>
    </p:spTree>
    <p:extLst>
      <p:ext uri="{BB962C8B-B14F-4D97-AF65-F5344CB8AC3E}">
        <p14:creationId xmlns:p14="http://schemas.microsoft.com/office/powerpoint/2010/main" val="9795124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5D3CE-D07B-428D-B3C1-E4C55AB1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53F69-6F7E-4D49-82AC-F4B02DE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SOUTHSTAR / ENGINEERING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94CFF-CA2D-4B9E-8F7A-7F3FEB79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A040D-EAA3-49F3-A273-46CB23CE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1D596-D2ED-46C1-87CF-D0DDAC61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Postgres-backed · workflow-driven · long-running multi-agent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F0140-A235-4F9E-AE44-0664DBD3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PERSISTENCE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5F8E0-7204-477A-9A1D-A55CEC07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Postgres、History、Resource、Read Model 各自保存不同真相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33428-E9C6-48F8-9526-915D4D2E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Browser 不重建 workflow truth；它讀取 runtime projections。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43238-9A02-493D-BD37-6F088316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428875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CE4C7-3864-4F4D-A173-F6CD5A03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workflow_runs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8BA2E-23D4-4EEA-AD43-243BC163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2900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canonical manifest</a:t>
            </a:r>
          </a:p>
          <a:p xmlns:a="http://schemas.openxmlformats.org/drawingml/2006/main">
            <a:pPr algn="ctr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run status</a:t>
            </a:r>
          </a:p>
          <a:p xmlns:a="http://schemas.openxmlformats.org/drawingml/2006/main">
            <a:pPr algn="ctr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execution projection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9D891-85D3-4C70-BEB4-2A71BAE6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428875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B7BD1-CEC9-42DC-B089-72F35AE8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workflow_tasks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9EF30-5174-48A5-B9F5-C5F51BC2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2900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task snapshot</a:t>
            </a:r>
          </a:p>
          <a:p xmlns:a="http://schemas.openxmlformats.org/drawingml/2006/main">
            <a:pPr algn="ctr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dependencies</a:t>
            </a:r>
          </a:p>
          <a:p xmlns:a="http://schemas.openxmlformats.org/drawingml/2006/main">
            <a:pPr algn="ctr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attempt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1A879-F2D3-4E47-B8FB-6E6F7F3D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2428875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889EA-5F21-4A3A-975F-3A2FA683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3370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workflow_history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3292F-36D1-4E1C-8FF7-E6586F7D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2900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append-only audit</a:t>
            </a:r>
          </a:p>
          <a:p xmlns:a="http://schemas.openxmlformats.org/drawingml/2006/main">
            <a:pPr algn="ctr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lifecycle events</a:t>
            </a:r>
          </a:p>
          <a:p xmlns:a="http://schemas.openxmlformats.org/drawingml/2006/main">
            <a:pPr algn="ctr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operator 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6262D-CAB0-43D7-A4B9-DA53B6E6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2428875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C5554-AAB7-4FB9-B84B-DA478DCB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3370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runtime_resources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EC7EF-C98F-494B-9C7A-83E5016B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2900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drafts / contexts</a:t>
            </a:r>
          </a:p>
          <a:p xmlns:a="http://schemas.openxmlformats.org/drawingml/2006/main">
            <a:pPr algn="ctr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bindings / approvals</a:t>
            </a:r>
          </a:p>
          <a:p xmlns:a="http://schemas.openxmlformats.org/drawingml/2006/main">
            <a:pPr algn="ctr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artifacts /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7D132-F430-455B-820F-4ED2377E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8572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D0FBC9-8BA8-41AD-8A22-0CA2C32C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34000"/>
            <a:ext cx="552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Read models → Web / Chat / Operator surfaces</a:t>
            </a:r>
          </a:p>
        </p:txBody>
      </p:sp>
    </p:spTree>
    <p:extLst>
      <p:ext uri="{BB962C8B-B14F-4D97-AF65-F5344CB8AC3E}">
        <p14:creationId xmlns:p14="http://schemas.microsoft.com/office/powerpoint/2010/main" val="19067839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0C588-34D0-402F-BB2A-F9A5F63F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9740F-4022-4A66-BC35-F6C6578B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SOUTHSTAR / ENGINEERING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A4B12-9F2E-4503-8F5D-91C894AE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AC613-D054-4F9D-8EAF-A02E98BF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B1249-4957-46BA-8935-9F6C6786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Postgres-backed · workflow-driven · long-running multi-agent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5CB91-9420-4D0B-9008-0EC78427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RELIABILITY AND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7178E-601F-41F6-81E4-F8369460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失敗、審批、重試與 Recovery 都是顯式狀態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0AF02-AE7F-4564-A8D0-F807890C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Southstar 不用靜默 fallback 掩蓋缺資料；阻塞會被持久化並交給 operator 或下一次互動。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AE46C-6508-423A-A453-50311885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4748B"/>
                </a:solidFill>
              </a:defRPr>
            </a:pPr>
            <a:r>
              <a:rPr sz="1275" b="1">
                <a:solidFill>
                  <a:srgbClr val="64748B"/>
                </a:solidFill>
              </a:rPr>
              <a:t>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32C04-95BF-429F-A070-FB5B6187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14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D492E-A8EA-401B-AEA2-D18F6206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Running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17FF4-285A-4C2F-BB9E-A3FA6B88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914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39893-0013-4FBE-A1F8-FDF7B6B6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Blocked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5A0CB-B70D-43FD-8EB5-97FECFEB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14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244C4-6271-49C8-B2F4-FE24F911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2626"/>
                </a:solidFill>
              </a:defRPr>
            </a:pPr>
            <a:r>
              <a:rPr sz="1275" b="1">
                <a:solidFill>
                  <a:srgbClr val="DC2626"/>
                </a:solidFill>
              </a:rPr>
              <a:t>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D433C-A884-4E89-AABC-6EBE378E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14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33C34-50D3-4F3F-83BC-91A08721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Recovered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57F24-EF5D-4D2F-8269-86B25A40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146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5D12A-C1AC-48FC-BE15-690F1774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8130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A34A"/>
                </a:solidFill>
              </a:defRPr>
            </a:pPr>
            <a:r>
              <a:rPr sz="1275" b="1">
                <a:solidFill>
                  <a:srgbClr val="16A34A"/>
                </a:solidFill>
              </a:rPr>
              <a:t>Completed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51296-9ED0-4506-8178-8EA754DC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F6A2A5-8DED-4155-A243-11BB5426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Idempotency keys prevent duplicate goal materialization.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CDB27-801A-476D-8AD9-131E067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09886-AE30-48BB-AA93-E92423F6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Hashes bind Goal Contract, coverage, manifest and Library versions.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531B9-FD2A-4E4D-B559-DB03D43C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3B4B1-76F0-4ECC-8F70-45B171D2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Approvals and recovery decisions use runtime command routes.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B3DD8-F22D-4EA1-99DB-C9E34D40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FADE47-EAB8-4ECB-BD19-1DF78C5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Accepted artifacts are the evidence gate for downstream work.</a:t>
            </a:r>
          </a:p>
        </p:txBody>
      </p:sp>
    </p:spTree>
    <p:extLst>
      <p:ext uri="{BB962C8B-B14F-4D97-AF65-F5344CB8AC3E}">
        <p14:creationId xmlns:p14="http://schemas.microsoft.com/office/powerpoint/2010/main" val="2174275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A0D03E-4906-4737-B00E-096C081D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71EBF-167F-4EFC-BA22-C5225711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SOUTHSTAR / ENGINEERING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D1015-0792-4000-9BBD-4997FD07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3CA9A-436C-4E50-8288-3A1976C0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D8B5E-D73C-49E5-ACAC-8BDF69A8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Postgres-backed · workflow-driven · long-running multi-agent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6887E-B4D8-4B81-8FD9-8F7673D0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OPERATOR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ACE27-3827-4A64-B6E3-E2F1090A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Chat 與 Workflow UI 共用同一份 runtime 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CC3B6-7F8F-4512-9646-E7FBAB80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工程師可以從 Chat input 啟動 Southstar，也可以在 message box 內檢視規劃與執行結果。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277F4-F62D-487A-8003-CA8824F9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667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8B108-FFF0-4AC6-BE52-EE9FB2AF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/southstar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E7292-551D-4800-BDED-6B19B9B0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76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建立一個可驗證的 vocabulary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4030D-F284-45DC-9551-F0ECAD74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4095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Southstar · Requirements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BAA10-0F0F-4202-A45A-D0B224D3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4095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Southstar · Slice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2F321-D87A-46D9-ACE6-BBCBEEB7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4095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Southstar · Workflow DAG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D302D-E71E-4265-9BF9-3ED8BD42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structuredContent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21901-AD52-4122-AB1C-DDE2CA59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38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3FB83-E53A-4CDD-909F-60E7A1FC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1714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Runtime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4155D-B79D-432F-B664-A6E30640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52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A9D35-F2B3-47DB-98BB-7BBFF041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1714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Read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85FB1-E388-48D9-ABD7-D5C9B98F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1714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DAG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421CC-2222-4636-AA51-2574EC46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67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</a:defRPr>
            </a:pPr>
            <a:r>
              <a:rPr sz="18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673DC-C428-4181-A9B0-B444FBD0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1714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Operator actions</a:t>
            </a:r>
          </a:p>
        </p:txBody>
      </p:sp>
    </p:spTree>
    <p:extLst>
      <p:ext uri="{BB962C8B-B14F-4D97-AF65-F5344CB8AC3E}">
        <p14:creationId xmlns:p14="http://schemas.microsoft.com/office/powerpoint/2010/main" val="19357737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349C73-8F30-4D2C-B597-84F56779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23DAF-F8E1-4F36-A07D-BCA6D6D9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SOUTHSTAR / ENGINEERING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4B83C-0E23-469B-9E60-03EBCA3A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7C2CD-70B0-420D-9DB2-1C39F645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C697C-CB79-4593-AFE6-A8182A70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Postgres-backed · workflow-driven · long-running multi-agent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5C007-4EF3-4CA8-8093-B1F12151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REPOSITORY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9E7CE-1B3F-473C-B792-4070F495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工程師入口集中在 src/v2、web 與 runtime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7061D-5C72-4B36-9F43-E95E97A1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C88FF-C854-431E-A6D4-781FC0C1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src/v2/cli.ts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45FD4-83FF-48ED-99A4-A2570D0E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CLI + serve entry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0B331-E4B9-47B0-936D-99CF8974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23CDF-FFAD-4E8F-958B-AE5C6864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src/v2/server/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CFF45-81EA-4C1D-822B-F483D428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43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HTTP routes · lifecycle · SSE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2F1E4-1AED-4D00-84AA-87631363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52E51-8313-4E49-A631-85AAA433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src/v2/orchestration/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B4FDB-5C49-4F3F-84AB-4ECCC055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Goal design · composition ·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C99EB-8FFF-420F-BFA3-456DD91D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F348F-EE09-41ED-8F16-81DD41F3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src/v2/scheduler/ + executor/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FD2A7-F901-4EC3-9961-CC16515D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48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DAG dispatch · Tork/Pi · callbacks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4DF45-3AED-4AFC-B01A-10216D62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999FB-2DE3-4B88-AF19-7EB4DA29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src/v2/stores/ + read-models/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1EA152-B2D6-4C11-96CF-F029087D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00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Postgres truth · browser projections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8074A-B27F-4805-BC22-D3656830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768F8F-3B24-439E-A48F-CBA2F83C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web/app/ + web/components/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A104A2-CF66-4AE4-B9EC-F76191C4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53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Chat · Workflow · Operator UI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A899D0-C4AF-4E55-803F-F835D0F8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71700"/>
            <a:ext cx="228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Local stack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EF8A7-B23B-4EC5-9FAE-046343F1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956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npm run southstar:start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54AD96-BAF9-4561-B7AC-FC39F25E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0"/>
            <a:ext cx="2286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npm run southstar -- run-goal --goal "..."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DACFB9-29A6-4C7C-8368-D4141AEF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053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npm test · npm run test:v2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19A671-8999-4E2F-9001-D7B8C484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project is runtime-first; the UI is a projection and control surface.</a:t>
            </a:r>
          </a:p>
        </p:txBody>
      </p:sp>
    </p:spTree>
    <p:extLst>
      <p:ext uri="{BB962C8B-B14F-4D97-AF65-F5344CB8AC3E}">
        <p14:creationId xmlns:p14="http://schemas.microsoft.com/office/powerpoint/2010/main" val="8630614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389587-0923-4D4D-A929-D013B8EB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7B3E8-5B26-4CE9-BECD-E9F9ACC9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SOUTHSTAR / ENGINEERING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F488D-FF22-4794-8620-0B93956E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A2A69-F650-4D89-878D-6AB67FC5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12F02-2E02-4409-A786-96EB5F46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Postgres-backed · workflow-driven · long-running multi-agent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BF551-AC5D-4F79-83C5-5072FC63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ONE REQUEST, ONE DURABLE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DFD9C-1FFD-4E51-9121-F87659C9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從 /southstar 到 terminal artifact 的完整 walkthrough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47593-0C4A-4D42-ACA9-98591046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建立一個可驗證的 vocabulary app，包含測試與可交付 artifact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7B2A5-41EE-46EC-92D9-2EE0B6FF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F874A-83EB-4805-BE07-076E3A8D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Goal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70480-D5E3-4CD8-8A22-B0E21A4A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scope + success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AE2C9-92A1-41D0-BF9C-F4EAF672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3906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0908B-95E6-4F1E-9FDD-02F14B1B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2FF2E-C2C8-46EA-A6D5-A94DD48B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8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Requirements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F5478-71F2-42DB-8EA2-40805168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43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criteria + 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92A4D-D618-41D6-8D25-AAD04E0D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38500"/>
            <a:ext cx="13906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25164-DC43-4317-A38D-039AD19C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8D4F6-1FE1-4132-8D99-8C9D3C66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Library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5D9BF-92CB-49E3-B896-D45069CD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approved refs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0D3AE-DCC7-48F3-847C-30813220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38500"/>
            <a:ext cx="13906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E269C-FB96-466C-A2EA-9BA0C50E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4F2AD-6FE6-4794-86D0-0C4C6CFB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DAG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70C67-5DC2-41E4-8CDE-DBA334B2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validated manifest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19D794-2E8F-4269-92E0-935D49D7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38500"/>
            <a:ext cx="13906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C5AE42-4C64-46A9-8345-BF0BA8C6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99A3AE-CE3C-404D-AD2A-7A1C36FD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38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Executor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D57D75-D7DD-41C1-AAF6-C10FF421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43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Tork / Pi tasks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A4F075-77BC-4CA0-9713-597FC703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13906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ECC441-0AB2-4B3F-BA8F-1B38C21A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C18E09-5F7A-4397-9E00-58510223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38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29C14B-5D5F-4D1C-9FA1-1E65AD0A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43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artifact + eval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F38762-90F2-48D9-85E3-7D14F2BE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核心 takeaway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646B81-83D8-4C68-9E2A-5E57CDFA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435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Southstar 的價值不只是讓 Agent 執行，而是讓整個 Goal-to-Execution 過程可觀測、可恢復、可驗收。</a:t>
            </a:r>
          </a:p>
        </p:txBody>
      </p:sp>
    </p:spTree>
    <p:extLst>
      <p:ext uri="{BB962C8B-B14F-4D97-AF65-F5344CB8AC3E}">
        <p14:creationId xmlns:p14="http://schemas.microsoft.com/office/powerpoint/2010/main" val="1941557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2026-07-15T13:39:14.5900000Z</dcterms:created>
  <dcterms:modified xsi:type="dcterms:W3CDTF">2026-07-15T13:39:14.5900000Z</dcterms:modified>
</coreProperties>
</file>